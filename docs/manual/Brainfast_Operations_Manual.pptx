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4114800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7498079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6000" b="1">
                <a:solidFill>
                  <a:srgbClr val="E5E7EB"/>
                </a:solidFill>
                <a:latin typeface="Microsoft YaHei"/>
              </a:rPr>
              <a:t>Brainfast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7498079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0">
                <a:solidFill>
                  <a:srgbClr val="60A5FA"/>
                </a:solidFill>
                <a:latin typeface="Microsoft YaHei"/>
              </a:rPr>
              <a:t>全自动脑图谱配准 + 液化补偿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7498079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0">
                <a:solidFill>
                  <a:srgbClr val="E5E7EB"/>
                </a:solidFill>
                <a:latin typeface="Microsoft YaHei"/>
              </a:rPr>
              <a:t>操作说明书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749807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v1.0.0-rc1  ·  真实样本演示 (ChATe27 / 35_C0)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560320"/>
            <a:ext cx="3474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41825"/>
                </a:solidFill>
                <a:latin typeface="Microsoft YaHei"/>
              </a:rPr>
              <a:t>3D Liquify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108960"/>
            <a:ext cx="34747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41825"/>
                </a:solidFill>
                <a:latin typeface="Microsoft YaHei"/>
              </a:rPr>
              <a:t>人工补偿 + 类先验闭环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全流程概览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从一个 TIFF 到带置信区间的脑区柱状图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194560" cy="2103120"/>
          </a:xfrm>
          <a:prstGeom prst="roundRect">
            <a:avLst/>
          </a:prstGeom>
          <a:solidFill>
            <a:srgbClr val="1F29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21945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E5E7EB"/>
                </a:solidFill>
                <a:latin typeface="Microsoft YaHei"/>
              </a:rPr>
              <a:t>① 指向 TIFF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201167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Microsoft YaHei"/>
              </a:rPr>
              <a:t>New Sample 向导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737360"/>
            <a:ext cx="2194560" cy="2103120"/>
          </a:xfrm>
          <a:prstGeom prst="roundRect">
            <a:avLst/>
          </a:prstGeom>
          <a:solidFill>
            <a:srgbClr val="1F29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2057400"/>
            <a:ext cx="21945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E5E7EB"/>
                </a:solidFill>
                <a:latin typeface="Microsoft YaHei"/>
              </a:rPr>
              <a:t>② 启动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788920"/>
            <a:ext cx="201167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Microsoft YaHei"/>
              </a:rPr>
              <a:t>一键配准 + 细胞检测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737360"/>
            <a:ext cx="2194560" cy="2103120"/>
          </a:xfrm>
          <a:prstGeom prst="roundRect">
            <a:avLst/>
          </a:prstGeom>
          <a:solidFill>
            <a:srgbClr val="1F29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2057400"/>
            <a:ext cx="21945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E5E7EB"/>
                </a:solidFill>
                <a:latin typeface="Microsoft YaHei"/>
              </a:rPr>
              <a:t>③ 查看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2788920"/>
            <a:ext cx="201167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Microsoft YaHei"/>
              </a:rPr>
              <a:t>脑区分布 + 置信区间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737360"/>
            <a:ext cx="2194560" cy="2103120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057400"/>
            <a:ext cx="21945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141825"/>
                </a:solidFill>
                <a:latin typeface="Microsoft YaHei"/>
              </a:rPr>
              <a:t>④ 3D Liquify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788920"/>
            <a:ext cx="201167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41825"/>
                </a:solidFill>
                <a:latin typeface="Microsoft YaHei"/>
              </a:rPr>
              <a:t>★ 手动补偿区域错位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1737360"/>
            <a:ext cx="2194560" cy="2103120"/>
          </a:xfrm>
          <a:prstGeom prst="roundRect">
            <a:avLst/>
          </a:prstGeom>
          <a:solidFill>
            <a:srgbClr val="1F29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057400"/>
            <a:ext cx="21945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E5E7EB"/>
                </a:solidFill>
                <a:latin typeface="Microsoft YaHei"/>
              </a:rPr>
              <a:t>⑤ Class Prior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788920"/>
            <a:ext cx="2011679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Microsoft YaHei"/>
              </a:rPr>
              <a:t>跨样本积累 → 自动 warm-start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97680"/>
            <a:ext cx="11155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Microsoft YaHei"/>
              </a:rPr>
              <a:t>★ 本册重点：3D Liquify 闭环 — 为什么、什么时候用、怎么用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54880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自动配准通常有 3–15 voxel 残余偏移 — 对大部分 region 影响极小，但核团边界上能改变上千个 cell 归属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Liquify 通过少量人工 landmark 对（atlas-where-it-is, real-where-it-should-be）驱动 3D Laplacian 位移场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Finalize 重新导出 truth slices + 重映射 cells → 输出 cell_counts_hierarchy_liquify3d.csv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累积 ≥3 个同类样本的 landmark 后，下一个样本自动 warm-start（跳过手动修正）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启动 &amp; 主界面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双击 StartIdleBrainTrial.bat 或 python frontend/server.py → 浏览器打开 http://127.0.0.1:8787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03</a:t>
            </a:r>
          </a:p>
        </p:txBody>
      </p:sp>
      <p:pic>
        <p:nvPicPr>
          <p:cNvPr id="6" name="Picture 5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686800" cy="542925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pic>
        <p:nvPicPr>
          <p:cNvPr id="7" name="Picture 6" descr="11_side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325880"/>
            <a:ext cx="1251712" cy="512064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6400800"/>
            <a:ext cx="8686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Registration Workflow 默认页 — 可直接配置 Source TIFF（手动模式）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400800"/>
            <a:ext cx="2286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左侧主导航：8 个功能标签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New Sample 向导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新手从此处开始 — 不用编辑 config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04</a:t>
            </a:r>
          </a:p>
        </p:txBody>
      </p:sp>
      <p:pic>
        <p:nvPicPr>
          <p:cNvPr id="6" name="Picture 5" descr="02_wizard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772400" cy="485775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0" y="13716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Microsoft YaHei"/>
              </a:rPr>
              <a:t>3 步走完一切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9659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① 指向源文件（目录 or 多页 TIFF）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② 点 Inspect 自动读元数据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③ 点 Launch 启动 pipeline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全程不用编辑任何 JSON/YAML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自动建议 pixel size + z 间距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自动选 atlas_hemisphere +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7772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左侧 New Sample 标签进入 — 清爽 3 步表单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Step 1 — Inspect 真实 TIFF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指向 2.87GB 多页 TIFF，Brainfast 读 ImageJ 元数据并建议参数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05</a:t>
            </a:r>
          </a:p>
        </p:txBody>
      </p:sp>
      <p:pic>
        <p:nvPicPr>
          <p:cNvPr id="6" name="Picture 5" descr="03_wizard_insp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338560" cy="708660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5486400"/>
            <a:ext cx="11155680" cy="1143000"/>
          </a:xfrm>
          <a:prstGeom prst="roundRect">
            <a:avLst/>
          </a:prstGeom>
          <a:solidFill>
            <a:srgbClr val="1F2942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icrosoft YaHei"/>
              </a:rPr>
              <a:t>自动检测结果：pages=646, shape=[1636, 1359], dtype=uint16, px=5.0µm, z=24.8µm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警告提示「多页 TIFF 需先 extract → 单页切片目录」— 用户一看就明白接下来该做什么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Step 2 — 配置参数（自动预填）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Inspect 后 Sample ID / pixel / z / hemisphere / channel 全自动填好，用户只需要确认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06</a:t>
            </a:r>
          </a:p>
        </p:txBody>
      </p:sp>
      <p:pic>
        <p:nvPicPr>
          <p:cNvPr id="6" name="Picture 5" descr="04_wizard_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338560" cy="708660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5486400"/>
            <a:ext cx="11155680" cy="1143000"/>
          </a:xfrm>
          <a:prstGeom prst="roundRect">
            <a:avLst/>
          </a:prstGeom>
          <a:solidFill>
            <a:srgbClr val="1F2942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Microsoft YaHei"/>
              </a:rPr>
              <a:t>小贴士：Sample ID 越短越好（会作为 outputs/jobs/&lt;id&gt;/ 的目录名）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Atlas hemisphere 默认 right_flipped（清脑样本朝向）；其他方向在 dropdown 中可选。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Step 3 — Launch &amp; 进度 + 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新版 ETA 模块自校准：ANTs 阶段也能看到剩余时间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07</a:t>
            </a:r>
          </a:p>
        </p:txBody>
      </p:sp>
      <p:pic>
        <p:nvPicPr>
          <p:cNvPr id="6" name="Picture 5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686800" cy="542925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32688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Microsoft YaHei"/>
              </a:rPr>
              <a:t>ETA 时间模块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96596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6 个阶段独立估算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ANTs ~27–40 min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Truth Export ~7 s / slice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Detection ~15 s / slice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自校准：真实 / 预期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比值 clamp 0.5..2.0×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每次完成自动 append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到 eta_history.jsonl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→ 3 次后收敛到本机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8686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完整 run 约 4 小时 40 分（真实 646 slice 样本）— 阶段时间见 slide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Results — 脑区细胞分布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real-35-full 跑完：5,932,161 cells across 551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08</a:t>
            </a:r>
          </a:p>
        </p:txBody>
      </p:sp>
      <p:pic>
        <p:nvPicPr>
          <p:cNvPr id="6" name="Picture 5" descr="06_resul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3471395" cy="530352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943600" y="1371600"/>
            <a:ext cx="6035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Microsoft YaHei"/>
              </a:rPr>
              <a:t>关键输出文件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659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cell_counts_hierarchy.csv — 层级聚合（467–551 rows）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cell_counts_leaf.csv — 叶节点最细粒度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cells_mapped.csv — 每个 cell 带 region_id + (x,y,z)_µm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slice_registration_qc.csv — 每张切片 Dice / NCC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支持导出为 Excel / 中文标签 / 按脑区分组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★ 下一步：发现某核团 cell 数跟预期差很多？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    用 3D Liquify 手动修正 → 闭环重映射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★ 3D Liquify — 液化补偿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自动配准的最后一公里 · 人工驱动 3D Laplacian 位移场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  <a:latin typeface="Microsoft YaHei"/>
              </a:rPr>
              <a:t>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在交互式 UI 里点几对「atlas where it IS」↔「real where it SHOULD BE」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后端解 3D Laplacian 生成位移场 → 微调 annotation volume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Finalize 重新导出 truth slices + 重新映射所有 cells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同一 run 产出 cell_counts_hierarchy_liquify3d.csv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Microsoft YaHei"/>
              </a:rPr>
              <a:t>什么时候用？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Results 看到某核团（如 SNr / PVT）cell 数异常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切片 QC 发现 Dice &lt; 0.7 但 ANTs 已收敛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ANTs 配准整体正确但局部错位 3–15 voxels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要处理同类样本时希望建立 class prior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72000"/>
            <a:ext cx="11430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E5E7EB"/>
                </a:solidFill>
                <a:latin typeface="Microsoft YaHei"/>
              </a:rPr>
              <a:t>4 步走完闭环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2697480" cy="1371600"/>
          </a:xfrm>
          <a:prstGeom prst="roundRect">
            <a:avLst/>
          </a:prstGeom>
          <a:solidFill>
            <a:srgbClr val="1F29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60A5FA"/>
                </a:solidFill>
                <a:latin typeface="Microsoft YaHei"/>
              </a:rPr>
              <a:t>① 加载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2514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Microsoft YaHei"/>
              </a:rPr>
              <a:t>填 Job ID → Reload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120640"/>
            <a:ext cx="2697480" cy="1371600"/>
          </a:xfrm>
          <a:prstGeom prst="roundRect">
            <a:avLst/>
          </a:prstGeom>
          <a:solidFill>
            <a:srgbClr val="1F29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5257800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60A5FA"/>
                </a:solidFill>
                <a:latin typeface="Microsoft YaHei"/>
              </a:rPr>
              <a:t>② 加 Landmarks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760720"/>
            <a:ext cx="2514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Microsoft YaHei"/>
              </a:rPr>
              <a:t>点 atlas / real 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120640"/>
            <a:ext cx="2697480" cy="1371600"/>
          </a:xfrm>
          <a:prstGeom prst="roundRect">
            <a:avLst/>
          </a:prstGeom>
          <a:solidFill>
            <a:srgbClr val="1F29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5257800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60A5FA"/>
                </a:solidFill>
                <a:latin typeface="Microsoft YaHei"/>
              </a:rPr>
              <a:t>③ 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5760720"/>
            <a:ext cx="2514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Microsoft YaHei"/>
              </a:rPr>
              <a:t>Laplacian 解位移场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5120640"/>
            <a:ext cx="2697480" cy="1371600"/>
          </a:xfrm>
          <a:prstGeom prst="roundRect">
            <a:avLst/>
          </a:prstGeom>
          <a:solidFill>
            <a:srgbClr val="1F2942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5257800"/>
            <a:ext cx="2697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60A5FA"/>
                </a:solidFill>
                <a:latin typeface="Microsoft YaHei"/>
              </a:rPr>
              <a:t>④ Finalize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760720"/>
            <a:ext cx="2514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Microsoft YaHei"/>
              </a:rPr>
              <a:t>重映射 cells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Liquify Step 1 — 加载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填 Job ID → Reload slice list → 看到 atlas 覆盖真实切片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  <p:pic>
        <p:nvPicPr>
          <p:cNvPr id="6" name="Picture 5" descr="07_liquify3d_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9326880" cy="582930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966960" y="13716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1965960"/>
            <a:ext cx="2194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填 Job ID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「real-35-full」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点 Reload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应见「646 slice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overlays available」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拖 z 滑块浏览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0-645 切片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彩色半透明区域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就是 atlas 归属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（region_id）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Liquify Step 2 — 加 Landmark 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点 atlas (where the region IS) → 点 real (where it SHOULD BE)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  <p:pic>
        <p:nvPicPr>
          <p:cNvPr id="6" name="Picture 5" descr="09_liquify3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858000" cy="11287125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498079" y="1371600"/>
            <a:ext cx="4480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  <a:latin typeface="Microsoft YaHei"/>
              </a:rPr>
              <a:t>交互流程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选 Next click = Atlas，点下图上某个 region 的当前位置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再选 Real，点下图上同一解剖结构应该去的位置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两次点击组成一对 landmark，自动入表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表格最右可随时 × 删除某一对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Ctrl+Z = 撤销最近一次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密度建议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  · 小样本 (~100 z) → 5-10 pairs 够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  · 大样本 (&gt;500 z) → 30-60 pairs 更稳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  · 分布在 z 方向上 (比如每 50 层打一圈)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本演示：real-35-full 用了 60 dense pairs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5E7EB"/>
                </a:solidFill>
                <a:latin typeface="Microsoft YaHei"/>
              </a:rPr>
              <a:t>• max 位移 = 8.08 voxels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Liquify Step 3 — Apply 3D warp (Laplacian)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点 Apply → 后端解 3D Laplacian → 生成 annotation_refined_liquify3d.nii.gz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  <p:pic>
        <p:nvPicPr>
          <p:cNvPr id="6" name="Picture 5" descr="08_liquify3d_pair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583680" cy="411480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1371600"/>
            <a:ext cx="4663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  <a:latin typeface="Microsoft YaHei"/>
              </a:rPr>
              <a:t>幕后算法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vendored from D:/UCI-XuLab-RegTools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Laplacian PDE with Dirichlet BC: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landmark 是 anchor constraint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其他 voxel 是 free variable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Conjugate Gradient + Jacobi 预处理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线性时间 O(N) 收敛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输出 (3, D, H, W) 位移场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nearest-neighbor sampling 保持 label 离散性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产出 annotation_refined_liquify3d.nii.gz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• real-full (57.6M voxels, 60 landmarks):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求解 ~3 分钟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5E7EB"/>
                </a:solidFill>
                <a:latin typeface="Microsoft YaHei"/>
              </a:rPr>
              <a:t>  · max 位移 8.08 voxels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Liquify Step 4 — Finalize &amp; 重新聚合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用 refined annotation 重新导出 truth + 重映射 cells → hierarchy 自动更新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Microsoft YaHei"/>
              </a:rPr>
              <a:t>real-35-full 真实闭环效果（60 dense landmarks）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74519"/>
            <a:ext cx="1138428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39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1825"/>
                </a:solidFill>
                <a:latin typeface="Microsoft YaHei"/>
              </a:rPr>
              <a:t>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20239"/>
            <a:ext cx="2377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1825"/>
                </a:solidFill>
                <a:latin typeface="Microsoft YaHei"/>
              </a:rPr>
              <a:t>Before Liquify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20239"/>
            <a:ext cx="2651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1825"/>
                </a:solidFill>
                <a:latin typeface="Microsoft YaHei"/>
              </a:rPr>
              <a:t>After Liquify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920239"/>
            <a:ext cx="2194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1825"/>
                </a:solidFill>
                <a:latin typeface="Microsoft YaHei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59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root（全脑）cells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59"/>
            <a:ext cx="2377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5,656,618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23159"/>
            <a:ext cx="2651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≈ 5,656,618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423159"/>
            <a:ext cx="2194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≈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26079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细胞迁移到不同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26079"/>
            <a:ext cx="2377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926079"/>
            <a:ext cx="2651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5,249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926079"/>
            <a:ext cx="2194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+5,249 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voxel-level region 改变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29000"/>
            <a:ext cx="2377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429000"/>
            <a:ext cx="2651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72,153 (0.125%)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429000"/>
            <a:ext cx="2194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在 landmark 附近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3192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每 landmark 平均迁移 cells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31920"/>
            <a:ext cx="2377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931920"/>
            <a:ext cx="2651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87.5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931920"/>
            <a:ext cx="2194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vs demo 960/pair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34840"/>
            <a:ext cx="3657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hierarchy row 数（活跃 regions）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434840"/>
            <a:ext cx="2377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551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434840"/>
            <a:ext cx="2651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～551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434840"/>
            <a:ext cx="2194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≈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120640"/>
            <a:ext cx="11430000" cy="1463040"/>
          </a:xfrm>
          <a:prstGeom prst="roundRect">
            <a:avLst/>
          </a:prstGeom>
          <a:solidFill>
            <a:srgbClr val="1F2942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12080"/>
            <a:ext cx="11155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Microsoft YaHei"/>
              </a:rPr>
              <a:t>关键洞见（本 session 新增）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623560"/>
            <a:ext cx="111556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Landmark 数量需要随体积 scale：demo 5 landmarks 动 4,800 cells（960/landmark），real-full 同样 5 landmarks 只动 1 cell；改 60 dense pairs 后动 5,249 cells。建议 ≥ 1 landmark per 10^7 voxels，并尽量覆盖 z 方向。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UI 细节 — landmark 表 + 批量操作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60 pairs 全部在 UI 里可见，任意删除/撤销/清空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  <p:pic>
        <p:nvPicPr>
          <p:cNvPr id="6" name="Picture 5" descr="08_liquify3d_pair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11338560" cy="708660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6400800"/>
            <a:ext cx="11338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Landmark pairs 表：# / z / ATLAS (y,x) / REAL (y,x) / 删除按钮。z=50/100/150... 均匀分布。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Class Prior — 跨样本闭环积累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同类样本越多，下一个越省事 — 3 次后自动 warm-start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  <p:pic>
        <p:nvPicPr>
          <p:cNvPr id="6" name="Picture 5" descr="10_classp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772400" cy="4857750"/>
          </a:xfrm>
          <a:prstGeom prst="rect">
            <a:avLst/>
          </a:prstGeom>
          <a:ln w="12700">
            <a:solidFill>
              <a:srgbClr val="60A5F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12480" y="1371600"/>
            <a:ext cx="3657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  <a:latin typeface="Microsoft YaHei"/>
              </a:rPr>
              <a:t>工作原理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6596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• 每完成 Finalize 后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• 点「Save job → class prior」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• 后端按 class name (如 ChATe27)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• 做 running-mean 合并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• n ≥ 3 时: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  - 新样本点「Warm-start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    from prior」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  - landmark 自动填入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  - 再手动精调即可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• 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• 储存：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  train_data_set/class_priors/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    ChATe27/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      landmark_prior.csv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E5E7EB"/>
                </a:solidFill>
                <a:latin typeface="Microsoft YaHei"/>
              </a:rPr>
              <a:t>      sample_log.jsonl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真实样本耗时统计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ChATe27 / 35_C0 全脑 (646 slices × 1636×1359) · ETA 自校准展示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84280" cy="4754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29260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41825"/>
                </a:solidFill>
                <a:latin typeface="Microsoft YaHei"/>
              </a:rPr>
              <a:t>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44752"/>
            <a:ext cx="28346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41825"/>
                </a:solidFill>
                <a:latin typeface="Microsoft YaHei"/>
              </a:rPr>
              <a:t>耗时 (real-35-full)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444752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41825"/>
                </a:solidFill>
                <a:latin typeface="Microsoft YaHei"/>
              </a:rPr>
              <a:t>基线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444752"/>
            <a:ext cx="2377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41825"/>
                </a:solidFill>
                <a:latin typeface="Microsoft YaHei"/>
              </a:rPr>
              <a:t>校准后 (2 samples)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29260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Volume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8346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~80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0.6 s/slice (388 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920240"/>
            <a:ext cx="2377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0.36 s/slice (232 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95728"/>
            <a:ext cx="29260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Template Prep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95728"/>
            <a:ext cx="28346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&lt;1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95728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60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95728"/>
            <a:ext cx="2377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60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71216"/>
            <a:ext cx="29260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ANTS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871216"/>
            <a:ext cx="28346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27.8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71216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2000 s (33.3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871216"/>
            <a:ext cx="2377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2035 s (33.9 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46704"/>
            <a:ext cx="29260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Laplacian Refinement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346704"/>
            <a:ext cx="28346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&lt;1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46704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30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346704"/>
            <a:ext cx="2377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30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822191"/>
            <a:ext cx="29260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Truth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22191"/>
            <a:ext cx="28346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74 min (6.87 s/slice)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22191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7.0 s/slice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822191"/>
            <a:ext cx="2377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7.22 s/slice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97680"/>
            <a:ext cx="29260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Quantification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297680"/>
            <a:ext cx="28346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178 min (16.5 s/slice)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97680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16.5 s/slice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297680"/>
            <a:ext cx="2377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14.75 s/slice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700016"/>
            <a:ext cx="11384280" cy="475488"/>
          </a:xfrm>
          <a:prstGeom prst="rect">
            <a:avLst/>
          </a:prstGeom>
          <a:solidFill>
            <a:srgbClr val="1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773168"/>
            <a:ext cx="29260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</a:rPr>
              <a:t>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773168"/>
            <a:ext cx="28346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</a:rPr>
              <a:t>4h 40min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773168"/>
            <a:ext cx="246888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</a:rPr>
              <a:t>~4.4 h (预估)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773168"/>
            <a:ext cx="23774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Microsoft YaHei"/>
              </a:rPr>
              <a:t>~4.1 h (校准后)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577840"/>
            <a:ext cx="11430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</a:rPr>
              <a:t>ETA 模块在每次完成后自动 append 到 outputs/eta_history.jsonl；前端 /api/status 返回 eta.etr_total_s，UI 在所有阶段都能展示剩余时间。换台机器跑 ~3 次后基线自动收敛。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E5E7EB"/>
                </a:solidFill>
                <a:latin typeface="Microsoft YaHei"/>
              </a:rPr>
              <a:t>最佳实践 &amp; 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常见问题 + 后续拓展方向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60A5FA"/>
                </a:solidFill>
                <a:latin typeface="Microsoft YaHei"/>
              </a:rPr>
              <a:t>常见问题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cpsam OOM？ wizard 默认 allow_fallback=true (LoG)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路径有空格？ 全路径用正斜杠 / 或者加引号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Results 空？ 看 slice_registration_qc.csv → Dice &lt; 0.5 需要 liquify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liquify 表空？ Job ID 要先填再点 Reload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warm-start 提示 n&lt;3？ 要先 save ≥3 个同类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Microsoft YaHei"/>
              </a:rPr>
              <a:t>相关文档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CLAUDE.md — 开发者文档 + 架构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docs/superpowers/plans/*.md — 各 phase 规划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project/tests/unit/ — 401 个 unit tests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GitHub: github.com/HiuraMika/Brainfast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5E7EB"/>
                </a:solidFill>
                <a:latin typeface="Microsoft YaHei"/>
              </a:rPr>
              <a:t>• API 文档：/api/info 返回 version +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120640"/>
            <a:ext cx="11430000" cy="141732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41825"/>
                </a:solidFill>
                <a:latin typeface="Microsoft YaHei"/>
              </a:rPr>
              <a:t>从零到柱状图 · 新用户 typical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9728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41825"/>
                </a:solidFill>
                <a:latin typeface="Microsoft YaHei"/>
              </a:rPr>
              <a:t>① 双击启动 .bat  →  ② New Sample 指向 TIFF  →  ③ 4 小时后看 Results  →  ④ 对异常区域开 3D Liquify 补 10-50 landmarks  →  ⑤ Finalize → 保存到 Class Prior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